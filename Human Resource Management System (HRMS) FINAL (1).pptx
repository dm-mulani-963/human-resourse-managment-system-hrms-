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66" r:id="rId3"/>
    <p:sldId id="309" r:id="rId5"/>
    <p:sldId id="310" r:id="rId6"/>
    <p:sldId id="311" r:id="rId7"/>
    <p:sldId id="312" r:id="rId8"/>
    <p:sldId id="313" r:id="rId9"/>
    <p:sldId id="314" r:id="rId10"/>
    <p:sldId id="316" r:id="rId11"/>
    <p:sldId id="329" r:id="rId12"/>
    <p:sldId id="318" r:id="rId13"/>
    <p:sldId id="319" r:id="rId14"/>
    <p:sldId id="326" r:id="rId15"/>
    <p:sldId id="327" r:id="rId16"/>
    <p:sldId id="320" r:id="rId17"/>
    <p:sldId id="321" r:id="rId18"/>
    <p:sldId id="322" r:id="rId19"/>
    <p:sldId id="323" r:id="rId20"/>
    <p:sldId id="325" r:id="rId21"/>
    <p:sldId id="32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>
        <p:scale>
          <a:sx n="66" d="100"/>
          <a:sy n="66" d="100"/>
        </p:scale>
        <p:origin x="1330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B919F-1695-45C6-9D19-D6A045E696A5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D19EDC-6181-4584-B12D-5A23FB21A8DF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19EDC-6181-4584-B12D-5A23FB21A8DF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dirty="0">
                <a:effectLst/>
              </a:rPr>
              <a:t>Required</a:t>
            </a:r>
            <a:endParaRPr lang="en-IN" dirty="0">
              <a:effectLst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19EDC-6181-4584-B12D-5A23FB21A8DF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peak Pro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30000" y="1324897"/>
            <a:ext cx="4813072" cy="3561428"/>
          </a:xfrm>
        </p:spPr>
        <p:txBody>
          <a:bodyPr>
            <a:normAutofit/>
          </a:bodyPr>
          <a:lstStyle/>
          <a:p>
            <a:r>
              <a:rPr lang="en-GB" sz="5400" dirty="0"/>
              <a:t>Human Resource Management System (HRMS)</a:t>
            </a:r>
            <a:br>
              <a:rPr lang="en-GB" sz="5400" dirty="0"/>
            </a:br>
            <a:endParaRPr lang="en-US" sz="5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" y="10"/>
            <a:ext cx="6096000" cy="6857990"/>
          </a:xfrm>
          <a:prstGeom prst="rect">
            <a:avLst/>
          </a:prstGeom>
        </p:spPr>
      </p:pic>
      <p:cxnSp>
        <p:nvCxnSpPr>
          <p:cNvPr id="26" name="Straight Connector 25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6805053" y="4294754"/>
            <a:ext cx="43891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730001" y="4405873"/>
            <a:ext cx="48130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 err="1">
                <a:effectLst/>
                <a:latin typeface="Bookman Old Style" panose="02050604050505020204" pitchFamily="18" charset="0"/>
              </a:rPr>
              <a:t>Dhruvkumar</a:t>
            </a:r>
            <a:r>
              <a:rPr lang="en-GB" dirty="0">
                <a:effectLst/>
                <a:latin typeface="Bookman Old Style" panose="02050604050505020204" pitchFamily="18" charset="0"/>
              </a:rPr>
              <a:t> Mulani – 231040011006</a:t>
            </a:r>
            <a:br>
              <a:rPr lang="en-GB" dirty="0">
                <a:effectLst/>
                <a:latin typeface="Bookman Old Style" panose="02050604050505020204" pitchFamily="18" charset="0"/>
              </a:rPr>
            </a:br>
            <a:r>
              <a:rPr lang="en-GB" dirty="0">
                <a:effectLst/>
                <a:latin typeface="Bookman Old Style" panose="02050604050505020204" pitchFamily="18" charset="0"/>
              </a:rPr>
              <a:t>Naman Singh            - 231040012009</a:t>
            </a:r>
            <a:br>
              <a:rPr lang="en-GB" dirty="0">
                <a:effectLst/>
                <a:latin typeface="Bookman Old Style" panose="02050604050505020204" pitchFamily="18" charset="0"/>
              </a:rPr>
            </a:br>
            <a:r>
              <a:rPr lang="en-GB" dirty="0">
                <a:effectLst/>
                <a:latin typeface="Bookman Old Style" panose="02050604050505020204" pitchFamily="18" charset="0"/>
              </a:rPr>
              <a:t>Shyam </a:t>
            </a:r>
            <a:r>
              <a:rPr lang="en-GB" dirty="0" err="1">
                <a:effectLst/>
                <a:latin typeface="Bookman Old Style" panose="02050604050505020204" pitchFamily="18" charset="0"/>
              </a:rPr>
              <a:t>Chopda</a:t>
            </a:r>
            <a:r>
              <a:rPr lang="en-GB" dirty="0">
                <a:effectLst/>
                <a:latin typeface="Bookman Old Style" panose="02050604050505020204" pitchFamily="18" charset="0"/>
              </a:rPr>
              <a:t>          - 231040011028</a:t>
            </a:r>
            <a:endParaRPr lang="en-GB" dirty="0">
              <a:effectLst/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295400" y="276225"/>
            <a:ext cx="10555605" cy="1781175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900" dirty="0"/>
              <a:t>Project Overview &amp; Objective</a:t>
            </a:r>
            <a:br>
              <a:rPr lang="en-IN" dirty="0"/>
            </a:b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847724" y="1367909"/>
            <a:ext cx="75723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effectLst/>
                <a:latin typeface="Bookman Old Style" panose="02050604050505020204" pitchFamily="18" charset="0"/>
              </a:rPr>
              <a:t>Eliminate manual errors, reduce paperwork, improve efficiency</a:t>
            </a:r>
            <a:endParaRPr lang="en-GB" dirty="0">
              <a:effectLst/>
              <a:latin typeface="Bookman Old Style" panose="020506040505050202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47724" y="2032814"/>
            <a:ext cx="6743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effectLst/>
                <a:latin typeface="Bookman Old Style" panose="02050604050505020204" pitchFamily="18" charset="0"/>
              </a:rPr>
              <a:t>Real-time insights for HR, Managers &amp; Employees</a:t>
            </a:r>
            <a:endParaRPr lang="en-GB" dirty="0">
              <a:effectLst/>
              <a:latin typeface="Bookman Old Style" panose="020506040505050202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7724" y="2697719"/>
            <a:ext cx="6743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effectLst/>
                <a:latin typeface="Bookman Old Style" panose="02050604050505020204" pitchFamily="18" charset="0"/>
              </a:rPr>
              <a:t>Self-service portal + Role-based access</a:t>
            </a:r>
            <a:endParaRPr lang="en-IN" dirty="0">
              <a:effectLst/>
              <a:latin typeface="Bookman Old Style" panose="020506040505050202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7724" y="3362624"/>
            <a:ext cx="6743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Bookman Old Style" panose="02050604050505020204" pitchFamily="18" charset="0"/>
              </a:rPr>
              <a:t>Built for scalability, security, and compliance</a:t>
            </a:r>
            <a:endParaRPr lang="en-GB" dirty="0">
              <a:latin typeface="Bookman Old Style" panose="020506040505050202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7724" y="4027529"/>
            <a:ext cx="9210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effectLst/>
                <a:latin typeface="Bookman Old Style" panose="02050604050505020204" pitchFamily="18" charset="0"/>
              </a:rPr>
              <a:t>Unified web-based HRMS to automate and streamline HR processes</a:t>
            </a:r>
            <a:endParaRPr lang="en-GB" dirty="0">
              <a:effectLst/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7225" y="22059"/>
            <a:ext cx="10058400" cy="1457324"/>
          </a:xfrm>
        </p:spPr>
        <p:txBody>
          <a:bodyPr>
            <a:normAutofit/>
          </a:bodyPr>
          <a:lstStyle/>
          <a:p>
            <a:r>
              <a:rPr lang="en-IN" sz="4400" dirty="0">
                <a:solidFill>
                  <a:schemeClr val="tx1"/>
                </a:solidFill>
              </a:rPr>
              <a:t>Problem Statement</a:t>
            </a:r>
            <a:br>
              <a:rPr lang="en-IN" sz="4400" dirty="0">
                <a:solidFill>
                  <a:schemeClr val="tx1"/>
                </a:solidFill>
              </a:rPr>
            </a:br>
            <a:endParaRPr lang="en-IN" sz="4400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4824" y="1096059"/>
            <a:ext cx="9705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effectLst/>
                <a:latin typeface="Bookman Old Style" panose="02050604050505020204" pitchFamily="18" charset="0"/>
              </a:rPr>
              <a:t>Fragmented HR operations using spreadsheets &amp; legacy tools</a:t>
            </a:r>
            <a:endParaRPr lang="en-GB" dirty="0">
              <a:effectLst/>
              <a:latin typeface="Bookman Old Style" panose="020506040505050202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4824" y="1739384"/>
            <a:ext cx="8162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effectLst/>
                <a:latin typeface="Bookman Old Style" panose="02050604050505020204" pitchFamily="18" charset="0"/>
              </a:rPr>
              <a:t>High manual effort in attendance, leave, payroll &amp; recruitment</a:t>
            </a:r>
            <a:endParaRPr lang="en-GB" dirty="0">
              <a:effectLst/>
              <a:latin typeface="Bookman Old Style" panose="020506040505050202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4824" y="2368717"/>
            <a:ext cx="6143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effectLst/>
                <a:latin typeface="Bookman Old Style" panose="02050604050505020204" pitchFamily="18" charset="0"/>
              </a:rPr>
              <a:t>Lack of real-time visibility and employee self-service</a:t>
            </a:r>
            <a:endParaRPr lang="en-GB" dirty="0">
              <a:effectLst/>
              <a:latin typeface="Bookman Old Style" panose="020506040505050202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4823" y="2998050"/>
            <a:ext cx="8162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effectLst/>
                <a:latin typeface="Bookman Old Style" panose="02050604050505020204" pitchFamily="18" charset="0"/>
              </a:rPr>
              <a:t>Risk of data inconsistency, security breaches, and non-compliance</a:t>
            </a:r>
            <a:endParaRPr lang="en-GB" dirty="0">
              <a:effectLst/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8130" y="147510"/>
            <a:ext cx="10058400" cy="1901953"/>
          </a:xfrm>
        </p:spPr>
        <p:txBody>
          <a:bodyPr>
            <a:normAutofit/>
          </a:bodyPr>
          <a:lstStyle/>
          <a:p>
            <a:r>
              <a:rPr lang="en-IN" sz="4900" dirty="0"/>
              <a:t>Key Stakeholders &amp; Use Cases</a:t>
            </a:r>
            <a:br>
              <a:rPr lang="en-IN" dirty="0"/>
            </a:b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4550569" y="1052934"/>
            <a:ext cx="2526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effectLst/>
                <a:latin typeface="Bookman Old Style" panose="02050604050505020204" pitchFamily="18" charset="0"/>
              </a:rPr>
              <a:t>Key Needs</a:t>
            </a:r>
            <a:endParaRPr lang="en-IN" b="1" dirty="0">
              <a:effectLst/>
              <a:latin typeface="Bookman Old Style" panose="020506040505050202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31068" y="1052934"/>
            <a:ext cx="2240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effectLst/>
                <a:latin typeface="Bookman Old Style" panose="02050604050505020204" pitchFamily="18" charset="0"/>
              </a:rPr>
              <a:t>Stakeholder</a:t>
            </a:r>
            <a:endParaRPr lang="en-IN" b="1" dirty="0">
              <a:effectLst/>
              <a:latin typeface="Bookman Old Style" panose="020506040505050202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50117" y="1864797"/>
            <a:ext cx="7812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effectLst/>
                <a:latin typeface="Bookman Old Style" panose="02050604050505020204" pitchFamily="18" charset="0"/>
              </a:rPr>
              <a:t>HR/Admin               Centralized data, payroll automation, reports</a:t>
            </a:r>
            <a:endParaRPr lang="en-GB" dirty="0">
              <a:effectLst/>
              <a:latin typeface="Bookman Old Style" panose="020506040505050202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31068" y="2449520"/>
            <a:ext cx="78509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effectLst/>
                <a:latin typeface="Bookman Old Style" panose="02050604050505020204" pitchFamily="18" charset="0"/>
              </a:rPr>
              <a:t>Employees               Self-service: leave, payslip, profile update</a:t>
            </a:r>
            <a:endParaRPr lang="en-GB" dirty="0">
              <a:effectLst/>
              <a:latin typeface="Bookman Old Style" panose="020506040505050202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31068" y="2966364"/>
            <a:ext cx="83177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effectLst/>
                <a:latin typeface="Bookman Old Style" panose="02050604050505020204" pitchFamily="18" charset="0"/>
              </a:rPr>
              <a:t>Managers                Approve requests, team performance tracking</a:t>
            </a:r>
            <a:endParaRPr lang="en-GB" dirty="0">
              <a:effectLst/>
              <a:latin typeface="Bookman Old Style" panose="020506040505050202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31068" y="3539609"/>
            <a:ext cx="76033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effectLst/>
                <a:latin typeface="Bookman Old Style" panose="02050604050505020204" pitchFamily="18" charset="0"/>
              </a:rPr>
              <a:t>Leadership              Analytics, compliance, audit-ready data</a:t>
            </a:r>
            <a:endParaRPr lang="en-IN" dirty="0">
              <a:effectLst/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2905" y="-266700"/>
            <a:ext cx="10058400" cy="1781175"/>
          </a:xfrm>
        </p:spPr>
        <p:txBody>
          <a:bodyPr>
            <a:normAutofit/>
          </a:bodyPr>
          <a:lstStyle/>
          <a:p>
            <a:r>
              <a:rPr lang="en-IN" sz="4400" dirty="0"/>
              <a:t>Core Features (6 Modules)</a:t>
            </a:r>
            <a:br>
              <a:rPr lang="en-IN" sz="4400" dirty="0"/>
            </a:br>
            <a:endParaRPr lang="en-IN" sz="4400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771525" y="758818"/>
            <a:ext cx="588494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Employee Management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Leave Management (with balance validation)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Attendance Tracking (timestamped logs)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Payroll Processing (auto-calculation +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payslip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)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Recruitment Pipeline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Performance Management (KRA + 360° feedback)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430" y="-123825"/>
            <a:ext cx="11311890" cy="2019300"/>
          </a:xfrm>
        </p:spPr>
        <p:txBody>
          <a:bodyPr>
            <a:normAutofit/>
          </a:bodyPr>
          <a:lstStyle/>
          <a:p>
            <a:r>
              <a:rPr lang="en-IN" sz="4900" dirty="0"/>
              <a:t>Technology Stack (Consistent)</a:t>
            </a:r>
            <a:br>
              <a:rPr lang="en-IN" dirty="0"/>
            </a:b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935354" y="790576"/>
            <a:ext cx="768477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80604020202020204" pitchFamily="34" charset="0"/>
              <a:buChar char="•"/>
            </a:pPr>
            <a:r>
              <a:rPr lang="en-IN" b="1" dirty="0">
                <a:latin typeface="Bookman Old Style" panose="02050604050505020204" pitchFamily="18" charset="0"/>
              </a:rPr>
              <a:t>Frontend</a:t>
            </a:r>
            <a:r>
              <a:rPr lang="en-IN" dirty="0">
                <a:latin typeface="Bookman Old Style" panose="02050604050505020204" pitchFamily="18" charset="0"/>
              </a:rPr>
              <a:t>: React.js (Responsive Web + PWA)</a:t>
            </a:r>
            <a:endParaRPr lang="en-IN" dirty="0">
              <a:latin typeface="Bookman Old Style" panose="02050604050505020204" pitchFamily="18" charset="0"/>
            </a:endParaRPr>
          </a:p>
          <a:p>
            <a:endParaRPr lang="en-IN" dirty="0">
              <a:latin typeface="Bookman Old Style" panose="02050604050505020204" pitchFamily="18" charset="0"/>
            </a:endParaRPr>
          </a:p>
          <a:p>
            <a:pPr>
              <a:buFont typeface="Arial" panose="02080604020202020204" pitchFamily="34" charset="0"/>
              <a:buChar char="•"/>
            </a:pPr>
            <a:r>
              <a:rPr lang="en-IN" b="1" dirty="0">
                <a:latin typeface="Bookman Old Style" panose="02050604050505020204" pitchFamily="18" charset="0"/>
              </a:rPr>
              <a:t>Backend</a:t>
            </a:r>
            <a:r>
              <a:rPr lang="en-IN" dirty="0">
                <a:latin typeface="Bookman Old Style" panose="02050604050505020204" pitchFamily="18" charset="0"/>
              </a:rPr>
              <a:t>: Node.js + Cloud Functions</a:t>
            </a:r>
            <a:endParaRPr lang="en-IN" dirty="0">
              <a:latin typeface="Bookman Old Style" panose="02050604050505020204" pitchFamily="18" charset="0"/>
            </a:endParaRPr>
          </a:p>
          <a:p>
            <a:endParaRPr lang="en-IN" dirty="0">
              <a:latin typeface="Bookman Old Style" panose="02050604050505020204" pitchFamily="18" charset="0"/>
            </a:endParaRPr>
          </a:p>
          <a:p>
            <a:pPr>
              <a:buFont typeface="Arial" panose="02080604020202020204" pitchFamily="34" charset="0"/>
              <a:buChar char="•"/>
            </a:pPr>
            <a:r>
              <a:rPr lang="en-IN" b="1" dirty="0">
                <a:latin typeface="Bookman Old Style" panose="02050604050505020204" pitchFamily="18" charset="0"/>
              </a:rPr>
              <a:t>Database</a:t>
            </a:r>
            <a:r>
              <a:rPr lang="en-IN" dirty="0">
                <a:latin typeface="Bookman Old Style" panose="02050604050505020204" pitchFamily="18" charset="0"/>
              </a:rPr>
              <a:t>: PostgreSQL (Primary) + Redis (Caching)</a:t>
            </a:r>
            <a:endParaRPr lang="en-IN" dirty="0">
              <a:latin typeface="Bookman Old Style" panose="02050604050505020204" pitchFamily="18" charset="0"/>
            </a:endParaRPr>
          </a:p>
          <a:p>
            <a:endParaRPr lang="en-IN" dirty="0">
              <a:latin typeface="Bookman Old Style" panose="02050604050505020204" pitchFamily="18" charset="0"/>
            </a:endParaRPr>
          </a:p>
          <a:p>
            <a:pPr>
              <a:buFont typeface="Arial" panose="02080604020202020204" pitchFamily="34" charset="0"/>
              <a:buChar char="•"/>
            </a:pPr>
            <a:r>
              <a:rPr lang="en-IN" b="1" dirty="0">
                <a:latin typeface="Bookman Old Style" panose="02050604050505020204" pitchFamily="18" charset="0"/>
              </a:rPr>
              <a:t>Authentication</a:t>
            </a:r>
            <a:r>
              <a:rPr lang="en-IN" dirty="0">
                <a:latin typeface="Bookman Old Style" panose="02050604050505020204" pitchFamily="18" charset="0"/>
              </a:rPr>
              <a:t>: JWT + Optional 2FA</a:t>
            </a:r>
            <a:endParaRPr lang="en-IN" dirty="0">
              <a:latin typeface="Bookman Old Style" panose="02050604050505020204" pitchFamily="18" charset="0"/>
            </a:endParaRPr>
          </a:p>
          <a:p>
            <a:pPr>
              <a:buFont typeface="Arial" panose="02080604020202020204" pitchFamily="34" charset="0"/>
              <a:buChar char="•"/>
            </a:pPr>
            <a:endParaRPr lang="en-IN" dirty="0">
              <a:latin typeface="Bookman Old Style" panose="02050604050505020204" pitchFamily="18" charset="0"/>
            </a:endParaRPr>
          </a:p>
          <a:p>
            <a:pPr>
              <a:buFont typeface="Arial" panose="02080604020202020204" pitchFamily="34" charset="0"/>
              <a:buChar char="•"/>
            </a:pPr>
            <a:r>
              <a:rPr lang="en-IN" b="1" dirty="0">
                <a:latin typeface="Bookman Old Style" panose="02050604050505020204" pitchFamily="18" charset="0"/>
              </a:rPr>
              <a:t>File Storage</a:t>
            </a:r>
            <a:r>
              <a:rPr lang="en-IN" dirty="0">
                <a:latin typeface="Bookman Old Style" panose="02050604050505020204" pitchFamily="18" charset="0"/>
              </a:rPr>
              <a:t>: Google Cloud Storage (secure URLs)</a:t>
            </a:r>
            <a:endParaRPr lang="en-IN" dirty="0">
              <a:latin typeface="Bookman Old Style" panose="02050604050505020204" pitchFamily="18" charset="0"/>
            </a:endParaRPr>
          </a:p>
          <a:p>
            <a:pPr>
              <a:buFont typeface="Arial" panose="02080604020202020204" pitchFamily="34" charset="0"/>
              <a:buChar char="•"/>
            </a:pPr>
            <a:endParaRPr lang="en-IN" dirty="0">
              <a:latin typeface="Bookman Old Style" panose="02050604050505020204" pitchFamily="18" charset="0"/>
            </a:endParaRPr>
          </a:p>
          <a:p>
            <a:pPr>
              <a:buFont typeface="Arial" panose="02080604020202020204" pitchFamily="34" charset="0"/>
              <a:buChar char="•"/>
            </a:pPr>
            <a:r>
              <a:rPr lang="en-IN" b="1" dirty="0">
                <a:latin typeface="Bookman Old Style" panose="02050604050505020204" pitchFamily="18" charset="0"/>
              </a:rPr>
              <a:t>Hosting</a:t>
            </a:r>
            <a:r>
              <a:rPr lang="en-IN" dirty="0">
                <a:latin typeface="Bookman Old Style" panose="02050604050505020204" pitchFamily="18" charset="0"/>
              </a:rPr>
              <a:t>: Google Cloud Platform (Scalable &amp; Secure)</a:t>
            </a:r>
            <a:endParaRPr lang="en-IN" dirty="0">
              <a:latin typeface="Bookman Old Style" panose="02050604050505020204" pitchFamily="18" charset="0"/>
            </a:endParaRPr>
          </a:p>
          <a:p>
            <a:endParaRPr lang="en-IN" dirty="0">
              <a:latin typeface="Bookman Old Style" panose="02050604050505020204" pitchFamily="18" charset="0"/>
            </a:endParaRPr>
          </a:p>
          <a:p>
            <a:pPr>
              <a:buFont typeface="Arial" panose="02080604020202020204" pitchFamily="34" charset="0"/>
              <a:buChar char="•"/>
            </a:pPr>
            <a:r>
              <a:rPr lang="en-IN" b="1" dirty="0">
                <a:latin typeface="Bookman Old Style" panose="02050604050505020204" pitchFamily="18" charset="0"/>
              </a:rPr>
              <a:t>Real-time</a:t>
            </a:r>
            <a:r>
              <a:rPr lang="en-IN" dirty="0">
                <a:latin typeface="Bookman Old Style" panose="02050604050505020204" pitchFamily="18" charset="0"/>
              </a:rPr>
              <a:t>: WebSocket / Server-Sent Events where needed</a:t>
            </a:r>
            <a:endParaRPr lang="en-IN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1974" y="120134"/>
            <a:ext cx="1143952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4400" dirty="0">
                <a:effectLst/>
                <a:latin typeface="+mj-lt"/>
              </a:rPr>
              <a:t>System Architecture – Hybrid CAP Theorem Approach</a:t>
            </a:r>
            <a:endParaRPr lang="en-GB" sz="4400" dirty="0">
              <a:effectLst/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1974" y="1908302"/>
            <a:ext cx="1571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effectLst/>
                <a:latin typeface="Bookman Old Style" panose="02050604050505020204" pitchFamily="18" charset="0"/>
              </a:rPr>
              <a:t>Module</a:t>
            </a:r>
            <a:endParaRPr lang="en-IN" b="1" dirty="0">
              <a:effectLst/>
              <a:latin typeface="Bookman Old Style" panose="020506040505050202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46841" y="1916530"/>
            <a:ext cx="2628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effectLst/>
                <a:latin typeface="Bookman Old Style" panose="02050604050505020204" pitchFamily="18" charset="0"/>
              </a:rPr>
              <a:t>Choice</a:t>
            </a:r>
            <a:endParaRPr lang="en-IN" b="1" dirty="0">
              <a:effectLst/>
              <a:latin typeface="Bookman Old Style" panose="020506040505050202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531250" y="1898185"/>
            <a:ext cx="2200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effectLst/>
                <a:latin typeface="Bookman Old Style" panose="02050604050505020204" pitchFamily="18" charset="0"/>
              </a:rPr>
              <a:t>Reason</a:t>
            </a:r>
            <a:endParaRPr lang="en-IN" b="1" dirty="0">
              <a:effectLst/>
              <a:latin typeface="Bookman Old Style" panose="020506040505050202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4798" y="2504776"/>
            <a:ext cx="2676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effectLst/>
                <a:latin typeface="Bookman Old Style" panose="02050604050505020204" pitchFamily="18" charset="0"/>
              </a:rPr>
              <a:t>Payroll &amp; Salary</a:t>
            </a:r>
            <a:endParaRPr lang="en-IN" dirty="0">
              <a:effectLst/>
              <a:latin typeface="Bookman Old Style" panose="020506040505050202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144310" y="2589728"/>
            <a:ext cx="1039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  <a:latin typeface="Bookman Old Style" panose="02050604050505020204" pitchFamily="18" charset="0"/>
              </a:rPr>
              <a:t>CP</a:t>
            </a:r>
            <a:endParaRPr lang="en-US" dirty="0">
              <a:effectLst/>
              <a:latin typeface="Bookman Old Style" panose="020506040505050202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04675" y="2583597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  <a:latin typeface="Bookman Old Style" panose="02050604050505020204" pitchFamily="18" charset="0"/>
              </a:rPr>
              <a:t>100% accuracy, no double payments</a:t>
            </a:r>
            <a:endParaRPr lang="en-US" dirty="0">
              <a:effectLst/>
              <a:latin typeface="Bookman Old Style" panose="020506040505050202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798" y="3158488"/>
            <a:ext cx="29320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  <a:latin typeface="Bookman Old Style" panose="02050604050505020204" pitchFamily="18" charset="0"/>
              </a:rPr>
              <a:t>Employee Core Data</a:t>
            </a:r>
            <a:endParaRPr lang="en-US" dirty="0">
              <a:effectLst/>
              <a:latin typeface="Bookman Old Style" panose="020506040505050202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04675" y="3209375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  <a:latin typeface="Bookman Old Style" panose="02050604050505020204" pitchFamily="18" charset="0"/>
              </a:rPr>
              <a:t>Legal &amp; audit compliance</a:t>
            </a:r>
            <a:endParaRPr lang="en-US" dirty="0">
              <a:effectLst/>
              <a:latin typeface="Bookman Old Style" panose="020506040505050202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159651" y="3159535"/>
            <a:ext cx="1039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  <a:latin typeface="Bookman Old Style" panose="02050604050505020204" pitchFamily="18" charset="0"/>
              </a:rPr>
              <a:t>CP</a:t>
            </a:r>
            <a:endParaRPr lang="en-US" dirty="0">
              <a:effectLst/>
              <a:latin typeface="Bookman Old Style" panose="020506040505050202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4798" y="3812200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  <a:latin typeface="Bookman Old Style" panose="02050604050505020204" pitchFamily="18" charset="0"/>
              </a:rPr>
              <a:t>Leave/Attendance View</a:t>
            </a:r>
            <a:endParaRPr lang="en-US" dirty="0">
              <a:effectLst/>
              <a:latin typeface="Bookman Old Style" panose="020506040505050202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159651" y="3817592"/>
            <a:ext cx="7295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  <a:latin typeface="Bookman Old Style" panose="02050604050505020204" pitchFamily="18" charset="0"/>
              </a:rPr>
              <a:t>AP</a:t>
            </a:r>
            <a:endParaRPr lang="en-US" dirty="0">
              <a:effectLst/>
              <a:latin typeface="Bookman Old Style" panose="020506040505050202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604675" y="3812200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  <a:latin typeface="Bookman Old Style" panose="02050604050505020204" pitchFamily="18" charset="0"/>
              </a:rPr>
              <a:t>Real-time not critical</a:t>
            </a:r>
            <a:endParaRPr lang="en-US" dirty="0">
              <a:effectLst/>
              <a:latin typeface="Bookman Old Style" panose="020506040505050202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4798" y="4465912"/>
            <a:ext cx="30448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  <a:latin typeface="Bookman Old Style" panose="02050604050505020204" pitchFamily="18" charset="0"/>
              </a:rPr>
              <a:t>Announcements/Search</a:t>
            </a:r>
            <a:endParaRPr lang="en-US" dirty="0">
              <a:effectLst/>
              <a:latin typeface="Bookman Old Style" panose="020506040505050202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159651" y="4465220"/>
            <a:ext cx="509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  <a:latin typeface="Bookman Old Style" panose="02050604050505020204" pitchFamily="18" charset="0"/>
              </a:rPr>
              <a:t>AP</a:t>
            </a:r>
            <a:endParaRPr lang="en-US" dirty="0">
              <a:effectLst/>
              <a:latin typeface="Bookman Old Style" panose="020506040505050202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604675" y="4464865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  <a:latin typeface="Bookman Old Style" panose="02050604050505020204" pitchFamily="18" charset="0"/>
              </a:rPr>
              <a:t>Availability &gt; Consistency</a:t>
            </a:r>
            <a:endParaRPr lang="en-US" dirty="0">
              <a:effectLst/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79998" y="276510"/>
            <a:ext cx="1012797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400" dirty="0">
                <a:effectLst/>
                <a:latin typeface="Bookman Old Style" panose="02050604050505020204" pitchFamily="18" charset="0"/>
              </a:rPr>
              <a:t>Security &amp; Access Control</a:t>
            </a:r>
            <a:endParaRPr lang="en-US" sz="4400" dirty="0">
              <a:effectLst/>
              <a:latin typeface="Bookman Old Style" panose="020506040505050202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1460" y="1335330"/>
            <a:ext cx="780619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ookman Old Style" panose="02050604050505020204" pitchFamily="18" charset="0"/>
              </a:rPr>
              <a:t>Role-Based Access Control (RBAC)</a:t>
            </a:r>
            <a:endParaRPr lang="en-US" dirty="0">
              <a:latin typeface="Bookman Old Style" panose="02050604050505020204" pitchFamily="18" charset="0"/>
            </a:endParaRPr>
          </a:p>
          <a:p>
            <a:pPr>
              <a:buFont typeface="Arial" panose="02080604020202020204" pitchFamily="34" charset="0"/>
              <a:buChar char="•"/>
            </a:pPr>
            <a:endParaRPr lang="en-US" dirty="0">
              <a:latin typeface="Bookman Old Style" panose="02050604050505020204" pitchFamily="18" charset="0"/>
            </a:endParaRPr>
          </a:p>
          <a:p>
            <a:pPr>
              <a:buFont typeface="Arial" panose="0208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 Admin/HR → Full access</a:t>
            </a:r>
            <a:endParaRPr lang="en-US" dirty="0">
              <a:latin typeface="Bookman Old Style" panose="02050604050505020204" pitchFamily="18" charset="0"/>
            </a:endParaRPr>
          </a:p>
          <a:p>
            <a:pPr>
              <a:buFont typeface="Arial" panose="02080604020202020204" pitchFamily="34" charset="0"/>
              <a:buChar char="•"/>
            </a:pPr>
            <a:endParaRPr lang="en-US" dirty="0">
              <a:latin typeface="Bookman Old Style" panose="02050604050505020204" pitchFamily="18" charset="0"/>
            </a:endParaRPr>
          </a:p>
          <a:p>
            <a:pPr>
              <a:buFont typeface="Arial" panose="0208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Manager → Team-only access</a:t>
            </a:r>
            <a:endParaRPr lang="en-US" dirty="0">
              <a:latin typeface="Bookman Old Style" panose="02050604050505020204" pitchFamily="18" charset="0"/>
            </a:endParaRPr>
          </a:p>
          <a:p>
            <a:pPr>
              <a:buFont typeface="Arial" panose="02080604020202020204" pitchFamily="34" charset="0"/>
              <a:buChar char="•"/>
            </a:pPr>
            <a:endParaRPr lang="en-US" dirty="0">
              <a:latin typeface="Bookman Old Style" panose="02050604050505020204" pitchFamily="18" charset="0"/>
            </a:endParaRPr>
          </a:p>
          <a:p>
            <a:pPr>
              <a:buFont typeface="Arial" panose="0208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Employee → Self-only access</a:t>
            </a:r>
            <a:endParaRPr lang="en-US" dirty="0">
              <a:latin typeface="Bookman Old Style" panose="020506040505050202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1460" y="3642455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  <a:latin typeface="Bookman Old Style" panose="02050604050505020204" pitchFamily="18" charset="0"/>
              </a:rPr>
              <a:t>Optional 2FA (TOTP)</a:t>
            </a:r>
            <a:endParaRPr lang="en-US" dirty="0">
              <a:effectLst/>
              <a:latin typeface="Bookman Old Style" panose="020506040505050202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1460" y="4287587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  <a:latin typeface="Bookman Old Style" panose="02050604050505020204" pitchFamily="18" charset="0"/>
              </a:rPr>
              <a:t>Sensitive files: Time-limited signed URLs</a:t>
            </a:r>
            <a:endParaRPr lang="en-US" dirty="0">
              <a:effectLst/>
              <a:latin typeface="Bookman Old Style" panose="020506040505050202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1460" y="4932719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  <a:latin typeface="Bookman Old Style" panose="02050604050505020204" pitchFamily="18" charset="0"/>
              </a:rPr>
              <a:t>Audit logs for all critical actions</a:t>
            </a:r>
            <a:endParaRPr lang="en-US" dirty="0">
              <a:effectLst/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1121956"/>
            <a:ext cx="97840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GB" b="1" dirty="0">
              <a:latin typeface="Bookman Old Style" panose="02050604050505020204" pitchFamily="18" charset="0"/>
            </a:endParaRPr>
          </a:p>
          <a:p>
            <a:pPr>
              <a:buNone/>
            </a:pPr>
            <a:endParaRPr lang="en-GB" b="1" dirty="0">
              <a:latin typeface="Bookman Old Style" panose="02050604050505020204" pitchFamily="18" charset="0"/>
            </a:endParaRPr>
          </a:p>
          <a:p>
            <a:pPr>
              <a:buFont typeface="Arial" panose="02080604020202020204" pitchFamily="34" charset="0"/>
              <a:buChar char="•"/>
            </a:pPr>
            <a:r>
              <a:rPr lang="en-GB" b="1" dirty="0">
                <a:latin typeface="Bookman Old Style" panose="02050604050505020204" pitchFamily="18" charset="0"/>
              </a:rPr>
              <a:t>Team Size:</a:t>
            </a:r>
            <a:r>
              <a:rPr lang="en-GB" dirty="0">
                <a:latin typeface="Bookman Old Style" panose="02050604050505020204" pitchFamily="18" charset="0"/>
              </a:rPr>
              <a:t> 3 student developers</a:t>
            </a:r>
            <a:endParaRPr lang="en-GB" dirty="0">
              <a:latin typeface="Bookman Old Style" panose="02050604050505020204" pitchFamily="18" charset="0"/>
            </a:endParaRPr>
          </a:p>
          <a:p>
            <a:pPr>
              <a:buFont typeface="Arial" panose="02080604020202020204" pitchFamily="34" charset="0"/>
              <a:buChar char="•"/>
            </a:pPr>
            <a:endParaRPr lang="en-GB" dirty="0">
              <a:latin typeface="Bookman Old Style" panose="02050604050505020204" pitchFamily="18" charset="0"/>
            </a:endParaRPr>
          </a:p>
          <a:p>
            <a:pPr>
              <a:buFont typeface="Arial" panose="02080604020202020204" pitchFamily="34" charset="0"/>
              <a:buChar char="•"/>
            </a:pPr>
            <a:r>
              <a:rPr lang="en-GB" b="1" dirty="0">
                <a:latin typeface="Bookman Old Style" panose="02050604050505020204" pitchFamily="18" charset="0"/>
              </a:rPr>
              <a:t>Time Period:</a:t>
            </a:r>
            <a:r>
              <a:rPr lang="en-GB" dirty="0">
                <a:latin typeface="Bookman Old Style" panose="02050604050505020204" pitchFamily="18" charset="0"/>
              </a:rPr>
              <a:t> 2 months (≈ 8 weeks)</a:t>
            </a:r>
            <a:endParaRPr lang="en-GB" dirty="0">
              <a:latin typeface="Bookman Old Style" panose="02050604050505020204" pitchFamily="18" charset="0"/>
            </a:endParaRPr>
          </a:p>
          <a:p>
            <a:pPr>
              <a:buFont typeface="Arial" panose="02080604020202020204" pitchFamily="34" charset="0"/>
              <a:buChar char="•"/>
            </a:pPr>
            <a:endParaRPr lang="en-GB" dirty="0">
              <a:latin typeface="Bookman Old Style" panose="02050604050505020204" pitchFamily="18" charset="0"/>
            </a:endParaRPr>
          </a:p>
          <a:p>
            <a:pPr>
              <a:buFont typeface="Arial" panose="02080604020202020204" pitchFamily="34" charset="0"/>
              <a:buChar char="•"/>
            </a:pPr>
            <a:r>
              <a:rPr lang="en-GB" b="1" dirty="0">
                <a:latin typeface="Bookman Old Style" panose="02050604050505020204" pitchFamily="18" charset="0"/>
              </a:rPr>
              <a:t>Avg. Student Productivity:</a:t>
            </a:r>
            <a:r>
              <a:rPr lang="en-GB" dirty="0">
                <a:latin typeface="Bookman Old Style" panose="02050604050505020204" pitchFamily="18" charset="0"/>
              </a:rPr>
              <a:t> ~250 LOC per person per week</a:t>
            </a:r>
            <a:endParaRPr lang="en-GB" dirty="0">
              <a:latin typeface="Bookman Old Style" panose="020506040505050202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370471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>
                <a:latin typeface="Bookman Old Style" panose="02050604050505020204" pitchFamily="18" charset="0"/>
              </a:rPr>
              <a:t>Calculations</a:t>
            </a:r>
            <a:endParaRPr lang="en-GB" b="1" dirty="0">
              <a:latin typeface="Bookman Old Style" panose="02050604050505020204" pitchFamily="18" charset="0"/>
            </a:endParaRPr>
          </a:p>
          <a:p>
            <a:pPr>
              <a:buNone/>
            </a:pPr>
            <a:endParaRPr lang="en-GB" b="1" dirty="0">
              <a:latin typeface="Bookman Old Style" panose="02050604050505020204" pitchFamily="18" charset="0"/>
            </a:endParaRPr>
          </a:p>
          <a:p>
            <a:pPr>
              <a:buFont typeface="+mj-lt"/>
              <a:buAutoNum type="arabicPeriod"/>
            </a:pPr>
            <a:r>
              <a:rPr lang="en-GB" b="1" dirty="0">
                <a:latin typeface="Bookman Old Style" panose="02050604050505020204" pitchFamily="18" charset="0"/>
              </a:rPr>
              <a:t>LOC per week (team)</a:t>
            </a:r>
            <a:endParaRPr lang="en-GB" b="1" dirty="0">
              <a:latin typeface="Bookman Old Style" panose="02050604050505020204" pitchFamily="18" charset="0"/>
            </a:endParaRPr>
          </a:p>
          <a:p>
            <a:pPr>
              <a:buFont typeface="+mj-lt"/>
              <a:buAutoNum type="arabicPeriod"/>
            </a:pPr>
            <a:endParaRPr lang="en-GB" b="1" dirty="0">
              <a:latin typeface="Bookman Old Style" panose="02050604050505020204" pitchFamily="18" charset="0"/>
            </a:endParaRPr>
          </a:p>
          <a:p>
            <a:r>
              <a:rPr lang="en-GB" dirty="0">
                <a:latin typeface="Bookman Old Style" panose="02050604050505020204" pitchFamily="18" charset="0"/>
              </a:rPr>
              <a:t> developers × 250 LOC = </a:t>
            </a:r>
            <a:r>
              <a:rPr lang="en-GB" b="1" dirty="0">
                <a:latin typeface="Bookman Old Style" panose="02050604050505020204" pitchFamily="18" charset="0"/>
              </a:rPr>
              <a:t>750 LOC/week</a:t>
            </a:r>
            <a:endParaRPr lang="en-GB" dirty="0">
              <a:latin typeface="Bookman Old Style" panose="02050604050505020204" pitchFamily="18" charset="0"/>
            </a:endParaRPr>
          </a:p>
          <a:p>
            <a:endParaRPr lang="en-GB" dirty="0">
              <a:latin typeface="Bookman Old Style" panose="02050604050505020204" pitchFamily="18" charset="0"/>
            </a:endParaRPr>
          </a:p>
          <a:p>
            <a:pPr>
              <a:buFont typeface="+mj-lt"/>
              <a:buAutoNum type="arabicPeriod"/>
            </a:pPr>
            <a:r>
              <a:rPr lang="en-GB" b="1" dirty="0">
                <a:latin typeface="Bookman Old Style" panose="02050604050505020204" pitchFamily="18" charset="0"/>
              </a:rPr>
              <a:t>Convert to KLOC</a:t>
            </a:r>
            <a:endParaRPr lang="en-GB" b="1" dirty="0">
              <a:latin typeface="Bookman Old Style" panose="02050604050505020204" pitchFamily="18" charset="0"/>
            </a:endParaRPr>
          </a:p>
          <a:p>
            <a:br>
              <a:rPr lang="en-GB" dirty="0">
                <a:latin typeface="Bookman Old Style" panose="02050604050505020204" pitchFamily="18" charset="0"/>
              </a:rPr>
            </a:br>
            <a:r>
              <a:rPr lang="en-GB" dirty="0">
                <a:latin typeface="Bookman Old Style" panose="02050604050505020204" pitchFamily="18" charset="0"/>
              </a:rPr>
              <a:t>6000 LOC = </a:t>
            </a:r>
            <a:r>
              <a:rPr lang="en-GB" b="1" dirty="0">
                <a:latin typeface="Bookman Old Style" panose="02050604050505020204" pitchFamily="18" charset="0"/>
              </a:rPr>
              <a:t>6 KLOC</a:t>
            </a:r>
            <a:endParaRPr lang="en-GB" dirty="0">
              <a:latin typeface="Bookman Old Style" panose="02050604050505020204" pitchFamily="18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237491"/>
            <a:ext cx="12113895" cy="1445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Effort Estimation Using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COCOMO </a:t>
            </a: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Model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533525" y="-4922519"/>
            <a:ext cx="9124950" cy="1772139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-777240" y="6263640"/>
            <a:ext cx="13441680" cy="155447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979998" y="276510"/>
            <a:ext cx="1012797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400" dirty="0">
                <a:effectLst/>
                <a:latin typeface="Bookman Old Style" panose="02050604050505020204" pitchFamily="18" charset="0"/>
              </a:rPr>
              <a:t>Logical View</a:t>
            </a:r>
            <a:endParaRPr lang="en-US" sz="4400" dirty="0">
              <a:effectLst/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79" y="-8702040"/>
            <a:ext cx="11140441" cy="2479052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-624841" y="6385560"/>
            <a:ext cx="13441680" cy="155447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979998" y="276510"/>
            <a:ext cx="1012797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400" dirty="0" err="1">
                <a:effectLst/>
                <a:latin typeface="Bookman Old Style" panose="02050604050505020204" pitchFamily="18" charset="0"/>
              </a:rPr>
              <a:t>Devlop</a:t>
            </a:r>
            <a:r>
              <a:rPr lang="en-US" sz="4400" dirty="0" err="1">
                <a:latin typeface="Bookman Old Style" panose="02050604050505020204" pitchFamily="18" charset="0"/>
              </a:rPr>
              <a:t>ment</a:t>
            </a:r>
            <a:r>
              <a:rPr lang="en-US" sz="4400" dirty="0">
                <a:latin typeface="Bookman Old Style" panose="02050604050505020204" pitchFamily="18" charset="0"/>
              </a:rPr>
              <a:t> View</a:t>
            </a:r>
            <a:endParaRPr lang="en-US" sz="4400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25779" y="-6302841"/>
            <a:ext cx="11140441" cy="199921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-624841" y="6385560"/>
            <a:ext cx="13441680" cy="155447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979998" y="276510"/>
            <a:ext cx="1012797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400" dirty="0">
                <a:effectLst/>
                <a:latin typeface="Bookman Old Style" panose="02050604050505020204" pitchFamily="18" charset="0"/>
              </a:rPr>
              <a:t>Physical View</a:t>
            </a:r>
            <a:endParaRPr lang="en-US" sz="4400" dirty="0">
              <a:effectLst/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04215" y="-6302841"/>
            <a:ext cx="9983568" cy="199921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-624841" y="6385560"/>
            <a:ext cx="13441680" cy="155447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979998" y="276510"/>
            <a:ext cx="1012797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400" dirty="0">
                <a:effectLst/>
                <a:latin typeface="Bookman Old Style" panose="02050604050505020204" pitchFamily="18" charset="0"/>
              </a:rPr>
              <a:t>Process View</a:t>
            </a:r>
            <a:endParaRPr lang="en-US" sz="4400" dirty="0">
              <a:effectLst/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903" y="0"/>
            <a:ext cx="10287000" cy="64470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876466" y="2492923"/>
            <a:ext cx="9235230" cy="18721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2200" dirty="0"/>
              <a:t>Thank You!...</a:t>
            </a:r>
            <a:endParaRPr lang="en-US" sz="1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">
      <a:dk1>
        <a:srgbClr val="000000"/>
      </a:dk1>
      <a:lt1>
        <a:srgbClr val="FFFFFF"/>
      </a:lt1>
      <a:dk2>
        <a:srgbClr val="243541"/>
      </a:dk2>
      <a:lt2>
        <a:srgbClr val="E2E5E8"/>
      </a:lt2>
      <a:accent1>
        <a:srgbClr val="E88B33"/>
      </a:accent1>
      <a:accent2>
        <a:srgbClr val="AEA33A"/>
      </a:accent2>
      <a:accent3>
        <a:srgbClr val="8CAB4A"/>
      </a:accent3>
      <a:accent4>
        <a:srgbClr val="57B636"/>
      </a:accent4>
      <a:accent5>
        <a:srgbClr val="2EBA43"/>
      </a:accent5>
      <a:accent6>
        <a:srgbClr val="33B67D"/>
      </a:accent6>
      <a:hlink>
        <a:srgbClr val="5F84A8"/>
      </a:hlink>
      <a:folHlink>
        <a:srgbClr val="7F7F7F"/>
      </a:folHlink>
    </a:clrScheme>
    <a:fontScheme name="Retrospect">
      <a:majorFont>
        <a:latin typeface="Georgia Pro Cond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Color swatch</Template>
  <TotalTime>0</TotalTime>
  <Words>2390</Words>
  <Application>WPS Presentation</Application>
  <PresentationFormat>Widescreen</PresentationFormat>
  <Paragraphs>147</Paragraphs>
  <Slides>19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5" baseType="lpstr">
      <vt:lpstr>Arial</vt:lpstr>
      <vt:lpstr>SimSun</vt:lpstr>
      <vt:lpstr>Wingdings</vt:lpstr>
      <vt:lpstr>Calibri</vt:lpstr>
      <vt:lpstr>DejaVu Sans</vt:lpstr>
      <vt:lpstr>Speak Pro</vt:lpstr>
      <vt:lpstr>Bookman Old Style</vt:lpstr>
      <vt:lpstr>DejaVu Serif</vt:lpstr>
      <vt:lpstr>Carlito</vt:lpstr>
      <vt:lpstr>Georgia Pro Cond Light</vt:lpstr>
      <vt:lpstr>Quicksand Light</vt:lpstr>
      <vt:lpstr>Microsoft YaHei</vt:lpstr>
      <vt:lpstr>Droid Sans Fallback</vt:lpstr>
      <vt:lpstr>Arial Unicode MS</vt:lpstr>
      <vt:lpstr>GLYPHICONS Halflings</vt:lpstr>
      <vt:lpstr>RetrospectVTI</vt:lpstr>
      <vt:lpstr>Human Resource Management System (HRMS) </vt:lpstr>
      <vt:lpstr>Project Overview &amp; Objective </vt:lpstr>
      <vt:lpstr>Problem Statement </vt:lpstr>
      <vt:lpstr>Key Stakeholders &amp; Use Cases </vt:lpstr>
      <vt:lpstr>Core Features (6 Modules) </vt:lpstr>
      <vt:lpstr>Technology Stack (Updated &amp; Consistent)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Naman Singh</dc:creator>
  <cp:lastModifiedBy>boss</cp:lastModifiedBy>
  <cp:revision>5</cp:revision>
  <dcterms:created xsi:type="dcterms:W3CDTF">2025-11-26T15:00:53Z</dcterms:created>
  <dcterms:modified xsi:type="dcterms:W3CDTF">2025-11-26T15:00:53Z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/>
  </property>
  <property fmtid="{D5CDD505-2E9C-101B-9397-08002B2CF9AE}" pid="4" name="KSOProductBuildVer">
    <vt:lpwstr>1033-11.1.0.11723</vt:lpwstr>
  </property>
</Properties>
</file>